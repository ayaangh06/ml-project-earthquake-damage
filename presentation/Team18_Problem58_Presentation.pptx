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bcedf057-e354-466e-4d9d-cdca15caaf7e}">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the team. We predict how badly a building was damaged in the 2015 Nepal earthquake, using the DrivenData Richter's Predictor dataset. We compared four model families and picked the best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task in plain words: given a building's features, say whether damage was low, medium or near-total. The classes are imbalanced, grade 2 is about 57 percent of buildings, so a model that always says 2 already gets 0.5689. Every model has to beat that number to be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competition test file has no public labels, so we split the labelled training file once into 80 percent training and 20 percent validation and report validation scores for every model. There are no missing values. 6.2 percent of rows duplicate another building and we kept them. 1,496 buildings have a recorded age of 200 or more, which looks like a placeholder, so we capped age at 100 for KNN and the neural network. The chart shows why location will matter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KNN and the neural network need numbers on a common scale, so we one-hot encode and standardise. One-hot encoding geo_level_2 and geo_level_3 would add about 13,000 columns, so those two were dropped for these models. The tree models do not need scaling and can use the location IDs directly as numbers. Hyperparameters were picked by validation micro-F1.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 boosting reaches 0.7459 micro-F1 and 0.6929 macro-F1, the best on both. Random forest is second, then the neural network and KNN. The gap between boosting and the forest is much larger than the sampling error of a validation set this size, so we treat it as a real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both tree models, adding capacity helped: more leaves and more iterations for boosting, smaller leaves for the forest. Leaf size 1 went too far and overfit, with 0.987 on training but 0.7234 on validation. Class weighting hurt micro-F1. The boosted model generalises better: its training score is only 0.046 above validation, against 0.137 for the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the best model finds only 52 percent of grade 1 buildings. Most of its errors are buildings predicted as grade 2, the middle class. Mixing up grade 1 and grade 3 is rare for every model, at most 118 buildings.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permutation importance on the validation set: how much the score drops when one column is shuffled. Location is by far the biggest factor. That fits with the tree models beating KNN and the network, since the trees could use all three location IDs and the other two models had to drop two of them. We say likely because we did not run a controlled test of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is gradient boosting. It is 0.177 above the baseline, the tree models clearly beat KNN and the network, and location is the key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limits: the validation split was used both to tune and to report, there is a single split, and duplicates could help models that memorise. Next steps are to give the neural network usable location features, push up recall on low damage, and use cross-validation.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_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640080" y="1097280"/>
            <a:ext cx="7863840" cy="1280160"/>
          </a:xfrm>
          <a:prstGeom prst="rect">
            <a:avLst/>
          </a:prstGeom>
          <a:noFill/>
          <a:ln/>
        </p:spPr>
        <p:txBody>
          <a:bodyPr wrap="square" lIns="0" tIns="0" rIns="0" bIns="0" rtlCol="0" anchor="t"/>
          <a:lstStyle/>
          <a:p>
            <a:pPr indent="0" marL="0">
              <a:buNone/>
            </a:pPr>
            <a:r>
              <a:rPr lang="en-US" sz="4000" b="1" dirty="0">
                <a:solidFill>
                  <a:schemeClr val="tx1"/>
                </a:solidFill>
              </a:rPr>
              <a:t>Predicting Earthquake Damage to Buildings</a:t>
            </a:r>
            <a:endParaRPr lang="en-US" sz="4000" dirty="0"/>
          </a:p>
        </p:txBody>
      </p:sp>
      <p:sp>
        <p:nvSpPr>
          <p:cNvPr id="3" name="Subtitle"/>
          <p:cNvSpPr txBox="1"/>
          <p:nvPr/>
        </p:nvSpPr>
        <p:spPr>
          <a:xfrm>
            <a:off x="640080" y="2468880"/>
            <a:ext cx="7863840" cy="365760"/>
          </a:xfrm>
          <a:prstGeom prst="rect">
            <a:avLst/>
          </a:prstGeom>
          <a:noFill/>
          <a:ln/>
        </p:spPr>
        <p:txBody>
          <a:bodyPr wrap="square" lIns="0" tIns="0" rIns="0" bIns="0" rtlCol="0" anchor="t"/>
          <a:lstStyle/>
          <a:p>
            <a:pPr indent="0" marL="0">
              <a:buNone/>
            </a:pPr>
            <a:r>
              <a:rPr lang="en-US" sz="2000" dirty="0">
                <a:solidFill>
                  <a:schemeClr val="tx2"/>
                </a:solidFill>
              </a:rPr>
              <a:t>Nepal 2015 Gorkha earthquake (DrivenData: Richter's Predictor)</a:t>
            </a:r>
            <a:endParaRPr lang="en-US" sz="2000" dirty="0"/>
          </a:p>
        </p:txBody>
      </p:sp>
      <p:sp>
        <p:nvSpPr>
          <p:cNvPr id="4" name="Course"/>
          <p:cNvSpPr txBox="1"/>
          <p:nvPr/>
        </p:nvSpPr>
        <p:spPr>
          <a:xfrm>
            <a:off x="640080" y="3383280"/>
            <a:ext cx="7863840" cy="320040"/>
          </a:xfrm>
          <a:prstGeom prst="rect">
            <a:avLst/>
          </a:prstGeom>
          <a:noFill/>
          <a:ln/>
        </p:spPr>
        <p:txBody>
          <a:bodyPr wrap="square" lIns="0" tIns="0" rIns="0" bIns="0" rtlCol="0" anchor="t"/>
          <a:lstStyle/>
          <a:p>
            <a:pPr indent="0" marL="0">
              <a:buNone/>
            </a:pPr>
            <a:r>
              <a:rPr lang="en-US" sz="1600" dirty="0">
                <a:solidFill>
                  <a:schemeClr val="tx2"/>
                </a:solidFill>
              </a:rPr>
              <a:t>UE24CS352A Machine Learning mini-project, Team 18 (Problem 58)</a:t>
            </a:r>
            <a:endParaRPr lang="en-US" sz="1600" dirty="0"/>
          </a:p>
        </p:txBody>
      </p:sp>
      <p:sp>
        <p:nvSpPr>
          <p:cNvPr id="5" name="Names"/>
          <p:cNvSpPr txBox="1"/>
          <p:nvPr/>
        </p:nvSpPr>
        <p:spPr>
          <a:xfrm>
            <a:off x="640080" y="3749040"/>
            <a:ext cx="7863840" cy="320040"/>
          </a:xfrm>
          <a:prstGeom prst="rect">
            <a:avLst/>
          </a:prstGeom>
          <a:noFill/>
          <a:ln/>
        </p:spPr>
        <p:txBody>
          <a:bodyPr wrap="square" lIns="0" tIns="0" rIns="0" bIns="0" rtlCol="0" anchor="t"/>
          <a:lstStyle/>
          <a:p>
            <a:pPr indent="0" marL="0">
              <a:buNone/>
            </a:pPr>
            <a:r>
              <a:rPr lang="en-US" sz="1600" dirty="0">
                <a:solidFill>
                  <a:schemeClr val="tx2"/>
                </a:solidFill>
              </a:rPr>
              <a:t>Syed Ayaan Hasan (PES2UG24CS545) and Sriniket Deeduvanu (PES2UG24CS521)</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rPr>
              <a:t>The problem</a:t>
            </a:r>
            <a:endParaRPr lang="en-US" sz="3200" dirty="0"/>
          </a:p>
        </p:txBody>
      </p:sp>
      <p:sp>
        <p:nvSpPr>
          <p:cNvPr id="3" name="Problem points"/>
          <p:cNvSpPr txBox="1"/>
          <p:nvPr/>
        </p:nvSpPr>
        <p:spPr>
          <a:xfrm>
            <a:off x="457200" y="1371600"/>
            <a:ext cx="4297680" cy="31089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Input: a building's structure, age, use and location</a:t>
            </a:r>
            <a:endParaRPr lang="en-US" sz="1600" dirty="0"/>
          </a:p>
          <a:p>
            <a:pPr marL="342900" indent="-342900">
              <a:spcAft>
                <a:spcPts val="800"/>
              </a:spcAft>
              <a:buSzPct val="100000"/>
              <a:buChar char="•"/>
            </a:pPr>
            <a:r>
              <a:rPr lang="en-US" sz="1600" dirty="0">
                <a:solidFill>
                  <a:schemeClr val="tx1"/>
                </a:solidFill>
              </a:rPr>
              <a:t>Output: damage grade 1 (low), 2 (medium) or 3 (near-total destruction)</a:t>
            </a:r>
            <a:endParaRPr lang="en-US" sz="1600" dirty="0"/>
          </a:p>
          <a:p>
            <a:pPr marL="342900" indent="-342900">
              <a:spcAft>
                <a:spcPts val="800"/>
              </a:spcAft>
              <a:buSzPct val="100000"/>
              <a:buChar char="•"/>
            </a:pPr>
            <a:r>
              <a:rPr lang="en-US" sz="1600" dirty="0">
                <a:solidFill>
                  <a:schemeClr val="tx1"/>
                </a:solidFill>
              </a:rPr>
              <a:t>Score: micro-averaged F1, which equals accuracy when each building has one label</a:t>
            </a:r>
            <a:endParaRPr lang="en-US" sz="1600" dirty="0"/>
          </a:p>
          <a:p>
            <a:pPr marL="342900" indent="-342900">
              <a:spcAft>
                <a:spcPts val="800"/>
              </a:spcAft>
              <a:buSzPct val="100000"/>
              <a:buChar char="•"/>
            </a:pPr>
            <a:r>
              <a:rPr lang="en-US" sz="1600" dirty="0">
                <a:solidFill>
                  <a:schemeClr val="tx1"/>
                </a:solidFill>
              </a:rPr>
              <a:t>Always predicting grade 2 scores 0.5689, so that is our baseline</a:t>
            </a:r>
            <a:endParaRPr lang="en-US" sz="1600" dirty="0"/>
          </a:p>
        </p:txBody>
      </p:sp>
      <p:pic>
        <p:nvPicPr>
          <p:cNvPr id="4" name="Class distribution" descr="Bar chart of how many buildings fall in each damage grade">    </p:cNvPr>
          <p:cNvPicPr>
            <a:picLocks noChangeAspect="1"/>
          </p:cNvPicPr>
          <p:nvPr/>
        </p:nvPicPr>
        <p:blipFill>
          <a:blip r:embed="rId1"/>
          <a:stretch>
            <a:fillRect/>
          </a:stretch>
        </p:blipFill>
        <p:spPr>
          <a:xfrm>
            <a:off x="5029200" y="1371600"/>
            <a:ext cx="3657600" cy="2644685"/>
          </a:xfrm>
          <a:prstGeom prst="rect">
            <a:avLst/>
          </a:prstGeom>
        </p:spPr>
      </p:pic>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rPr>
              <a:t>The data</a:t>
            </a:r>
            <a:endParaRPr lang="en-US" sz="3200" dirty="0"/>
          </a:p>
        </p:txBody>
      </p:sp>
      <p:sp>
        <p:nvSpPr>
          <p:cNvPr id="3" name="Data stat 1 card"/>
          <p:cNvSpPr/>
          <p:nvPr/>
        </p:nvSpPr>
        <p:spPr>
          <a:xfrm>
            <a:off x="457200" y="1280160"/>
            <a:ext cx="1920240" cy="960120"/>
          </a:xfrm>
          <a:prstGeom prst="rect">
            <a:avLst/>
          </a:prstGeom>
          <a:solidFill>
            <a:schemeClr val="bg2"/>
          </a:solidFill>
          <a:ln/>
        </p:spPr>
      </p:sp>
      <p:sp>
        <p:nvSpPr>
          <p:cNvPr id="4" name="Data stat 1 number"/>
          <p:cNvSpPr txBox="1"/>
          <p:nvPr/>
        </p:nvSpPr>
        <p:spPr>
          <a:xfrm>
            <a:off x="640080" y="1389888"/>
            <a:ext cx="1554480" cy="480060"/>
          </a:xfrm>
          <a:prstGeom prst="rect">
            <a:avLst/>
          </a:prstGeom>
          <a:noFill/>
          <a:ln/>
        </p:spPr>
        <p:txBody>
          <a:bodyPr wrap="square" lIns="0" tIns="0" rIns="0" bIns="0" rtlCol="0" anchor="ctr"/>
          <a:lstStyle/>
          <a:p>
            <a:pPr indent="0" marL="0">
              <a:buNone/>
            </a:pPr>
            <a:r>
              <a:rPr lang="en-US" sz="2800" b="1" dirty="0">
                <a:solidFill>
                  <a:schemeClr val="accent4"/>
                </a:solidFill>
              </a:rPr>
              <a:t>260,601</a:t>
            </a:r>
            <a:endParaRPr lang="en-US" sz="2800" dirty="0"/>
          </a:p>
        </p:txBody>
      </p:sp>
      <p:sp>
        <p:nvSpPr>
          <p:cNvPr id="5" name="Data stat 1 label"/>
          <p:cNvSpPr txBox="1"/>
          <p:nvPr/>
        </p:nvSpPr>
        <p:spPr>
          <a:xfrm>
            <a:off x="640080" y="1837030"/>
            <a:ext cx="1554480" cy="345643"/>
          </a:xfrm>
          <a:prstGeom prst="rect">
            <a:avLst/>
          </a:prstGeom>
          <a:noFill/>
          <a:ln/>
        </p:spPr>
        <p:txBody>
          <a:bodyPr wrap="square" lIns="0" tIns="0" rIns="0" bIns="0" rtlCol="0" anchor="t"/>
          <a:lstStyle/>
          <a:p>
            <a:pPr indent="0" marL="0">
              <a:buNone/>
            </a:pPr>
            <a:r>
              <a:rPr lang="en-US" sz="1200" dirty="0">
                <a:solidFill>
                  <a:schemeClr val="tx2"/>
                </a:solidFill>
              </a:rPr>
              <a:t>buildings</a:t>
            </a:r>
            <a:endParaRPr lang="en-US" sz="1200" dirty="0"/>
          </a:p>
        </p:txBody>
      </p:sp>
      <p:sp>
        <p:nvSpPr>
          <p:cNvPr id="6" name="Data stat 2 card"/>
          <p:cNvSpPr/>
          <p:nvPr/>
        </p:nvSpPr>
        <p:spPr>
          <a:xfrm>
            <a:off x="2560320" y="1280160"/>
            <a:ext cx="1920240" cy="960120"/>
          </a:xfrm>
          <a:prstGeom prst="rect">
            <a:avLst/>
          </a:prstGeom>
          <a:solidFill>
            <a:schemeClr val="bg2"/>
          </a:solidFill>
          <a:ln/>
        </p:spPr>
      </p:sp>
      <p:sp>
        <p:nvSpPr>
          <p:cNvPr id="7" name="Data stat 2 number"/>
          <p:cNvSpPr txBox="1"/>
          <p:nvPr/>
        </p:nvSpPr>
        <p:spPr>
          <a:xfrm>
            <a:off x="2743200" y="1389888"/>
            <a:ext cx="1554480" cy="480060"/>
          </a:xfrm>
          <a:prstGeom prst="rect">
            <a:avLst/>
          </a:prstGeom>
          <a:noFill/>
          <a:ln/>
        </p:spPr>
        <p:txBody>
          <a:bodyPr wrap="square" lIns="0" tIns="0" rIns="0" bIns="0" rtlCol="0" anchor="ctr"/>
          <a:lstStyle/>
          <a:p>
            <a:pPr indent="0" marL="0">
              <a:buNone/>
            </a:pPr>
            <a:r>
              <a:rPr lang="en-US" sz="2800" b="1" dirty="0">
                <a:solidFill>
                  <a:schemeClr val="accent4"/>
                </a:solidFill>
              </a:rPr>
              <a:t>38</a:t>
            </a:r>
            <a:endParaRPr lang="en-US" sz="2800" dirty="0"/>
          </a:p>
        </p:txBody>
      </p:sp>
      <p:sp>
        <p:nvSpPr>
          <p:cNvPr id="8" name="Data stat 2 label"/>
          <p:cNvSpPr txBox="1"/>
          <p:nvPr/>
        </p:nvSpPr>
        <p:spPr>
          <a:xfrm>
            <a:off x="2743200" y="1837030"/>
            <a:ext cx="1554480" cy="345643"/>
          </a:xfrm>
          <a:prstGeom prst="rect">
            <a:avLst/>
          </a:prstGeom>
          <a:noFill/>
          <a:ln/>
        </p:spPr>
        <p:txBody>
          <a:bodyPr wrap="square" lIns="0" tIns="0" rIns="0" bIns="0" rtlCol="0" anchor="t"/>
          <a:lstStyle/>
          <a:p>
            <a:pPr indent="0" marL="0">
              <a:buNone/>
            </a:pPr>
            <a:r>
              <a:rPr lang="en-US" sz="1200" dirty="0">
                <a:solidFill>
                  <a:schemeClr val="tx2"/>
                </a:solidFill>
              </a:rPr>
              <a:t>features (8 categorical, 30 numeric)</a:t>
            </a:r>
            <a:endParaRPr lang="en-US" sz="1200" dirty="0"/>
          </a:p>
        </p:txBody>
      </p:sp>
      <p:sp>
        <p:nvSpPr>
          <p:cNvPr id="9" name="Data stat 3 card"/>
          <p:cNvSpPr/>
          <p:nvPr/>
        </p:nvSpPr>
        <p:spPr>
          <a:xfrm>
            <a:off x="4663440" y="1280160"/>
            <a:ext cx="1920240" cy="960120"/>
          </a:xfrm>
          <a:prstGeom prst="rect">
            <a:avLst/>
          </a:prstGeom>
          <a:solidFill>
            <a:schemeClr val="bg2"/>
          </a:solidFill>
          <a:ln/>
        </p:spPr>
      </p:sp>
      <p:sp>
        <p:nvSpPr>
          <p:cNvPr id="10" name="Data stat 3 number"/>
          <p:cNvSpPr txBox="1"/>
          <p:nvPr/>
        </p:nvSpPr>
        <p:spPr>
          <a:xfrm>
            <a:off x="4846320" y="1389888"/>
            <a:ext cx="1554480" cy="480060"/>
          </a:xfrm>
          <a:prstGeom prst="rect">
            <a:avLst/>
          </a:prstGeom>
          <a:noFill/>
          <a:ln/>
        </p:spPr>
        <p:txBody>
          <a:bodyPr wrap="square" lIns="0" tIns="0" rIns="0" bIns="0" rtlCol="0" anchor="ctr"/>
          <a:lstStyle/>
          <a:p>
            <a:pPr indent="0" marL="0">
              <a:buNone/>
            </a:pPr>
            <a:r>
              <a:rPr lang="en-US" sz="2800" b="1" dirty="0">
                <a:solidFill>
                  <a:schemeClr val="accent4"/>
                </a:solidFill>
              </a:rPr>
              <a:t>3</a:t>
            </a:r>
            <a:endParaRPr lang="en-US" sz="2800" dirty="0"/>
          </a:p>
        </p:txBody>
      </p:sp>
      <p:sp>
        <p:nvSpPr>
          <p:cNvPr id="11" name="Data stat 3 label"/>
          <p:cNvSpPr txBox="1"/>
          <p:nvPr/>
        </p:nvSpPr>
        <p:spPr>
          <a:xfrm>
            <a:off x="4846320" y="1837030"/>
            <a:ext cx="1554480" cy="345643"/>
          </a:xfrm>
          <a:prstGeom prst="rect">
            <a:avLst/>
          </a:prstGeom>
          <a:noFill/>
          <a:ln/>
        </p:spPr>
        <p:txBody>
          <a:bodyPr wrap="square" lIns="0" tIns="0" rIns="0" bIns="0" rtlCol="0" anchor="t"/>
          <a:lstStyle/>
          <a:p>
            <a:pPr indent="0" marL="0">
              <a:buNone/>
            </a:pPr>
            <a:r>
              <a:rPr lang="en-US" sz="1200" dirty="0">
                <a:solidFill>
                  <a:schemeClr val="tx2"/>
                </a:solidFill>
              </a:rPr>
              <a:t>location IDs, 31 / 1,414 / 11,595 values</a:t>
            </a:r>
            <a:endParaRPr lang="en-US" sz="1200" dirty="0"/>
          </a:p>
        </p:txBody>
      </p:sp>
      <p:sp>
        <p:nvSpPr>
          <p:cNvPr id="12" name="Data stat 4 card"/>
          <p:cNvSpPr/>
          <p:nvPr/>
        </p:nvSpPr>
        <p:spPr>
          <a:xfrm>
            <a:off x="6766560" y="1280160"/>
            <a:ext cx="1920240" cy="960120"/>
          </a:xfrm>
          <a:prstGeom prst="rect">
            <a:avLst/>
          </a:prstGeom>
          <a:solidFill>
            <a:schemeClr val="bg2"/>
          </a:solidFill>
          <a:ln/>
        </p:spPr>
      </p:sp>
      <p:sp>
        <p:nvSpPr>
          <p:cNvPr id="13" name="Data stat 4 number"/>
          <p:cNvSpPr txBox="1"/>
          <p:nvPr/>
        </p:nvSpPr>
        <p:spPr>
          <a:xfrm>
            <a:off x="6949440" y="1389888"/>
            <a:ext cx="1554480" cy="480060"/>
          </a:xfrm>
          <a:prstGeom prst="rect">
            <a:avLst/>
          </a:prstGeom>
          <a:noFill/>
          <a:ln/>
        </p:spPr>
        <p:txBody>
          <a:bodyPr wrap="square" lIns="0" tIns="0" rIns="0" bIns="0" rtlCol="0" anchor="ctr"/>
          <a:lstStyle/>
          <a:p>
            <a:pPr indent="0" marL="0">
              <a:buNone/>
            </a:pPr>
            <a:r>
              <a:rPr lang="en-US" sz="2800" b="1" dirty="0">
                <a:solidFill>
                  <a:schemeClr val="accent4"/>
                </a:solidFill>
              </a:rPr>
              <a:t>0</a:t>
            </a:r>
            <a:endParaRPr lang="en-US" sz="2800" dirty="0"/>
          </a:p>
        </p:txBody>
      </p:sp>
      <p:sp>
        <p:nvSpPr>
          <p:cNvPr id="14" name="Data stat 4 label"/>
          <p:cNvSpPr txBox="1"/>
          <p:nvPr/>
        </p:nvSpPr>
        <p:spPr>
          <a:xfrm>
            <a:off x="6949440" y="1837030"/>
            <a:ext cx="1554480" cy="345643"/>
          </a:xfrm>
          <a:prstGeom prst="rect">
            <a:avLst/>
          </a:prstGeom>
          <a:noFill/>
          <a:ln/>
        </p:spPr>
        <p:txBody>
          <a:bodyPr wrap="square" lIns="0" tIns="0" rIns="0" bIns="0" rtlCol="0" anchor="t"/>
          <a:lstStyle/>
          <a:p>
            <a:pPr indent="0" marL="0">
              <a:buNone/>
            </a:pPr>
            <a:r>
              <a:rPr lang="en-US" sz="1200" dirty="0">
                <a:solidFill>
                  <a:schemeClr val="tx2"/>
                </a:solidFill>
              </a:rPr>
              <a:t>missing values</a:t>
            </a:r>
            <a:endParaRPr lang="en-US" sz="1200" dirty="0"/>
          </a:p>
        </p:txBody>
      </p:sp>
      <p:pic>
        <p:nvPicPr>
          <p:cNvPr id="15" name="Damage by region" descr="Bar chart of mean damage grade for each geo_level_1_id region">    </p:cNvPr>
          <p:cNvPicPr>
            <a:picLocks noChangeAspect="1"/>
          </p:cNvPicPr>
          <p:nvPr/>
        </p:nvPicPr>
        <p:blipFill>
          <a:blip r:embed="rId1"/>
          <a:stretch>
            <a:fillRect/>
          </a:stretch>
        </p:blipFill>
        <p:spPr>
          <a:xfrm>
            <a:off x="457200" y="2606040"/>
            <a:ext cx="5120640" cy="1756652"/>
          </a:xfrm>
          <a:prstGeom prst="rect">
            <a:avLst/>
          </a:prstGeom>
        </p:spPr>
      </p:pic>
      <p:sp>
        <p:nvSpPr>
          <p:cNvPr id="16" name="Data notes"/>
          <p:cNvSpPr txBox="1"/>
          <p:nvPr/>
        </p:nvSpPr>
        <p:spPr>
          <a:xfrm>
            <a:off x="5852160" y="2606040"/>
            <a:ext cx="2834640" cy="2011680"/>
          </a:xfrm>
          <a:prstGeom prst="rect">
            <a:avLst/>
          </a:prstGeom>
          <a:noFill/>
          <a:ln/>
        </p:spPr>
        <p:txBody>
          <a:bodyPr wrap="square" lIns="0" tIns="0" rIns="0" bIns="0" rtlCol="0" anchor="t"/>
          <a:lstStyle/>
          <a:p>
            <a:pPr indent="0" marL="0">
              <a:spcAft>
                <a:spcPts val="1000"/>
              </a:spcAft>
              <a:buNone/>
            </a:pPr>
            <a:r>
              <a:rPr lang="en-US" sz="1400" dirty="0">
                <a:solidFill>
                  <a:schemeClr val="tx1"/>
                </a:solidFill>
              </a:rPr>
              <a:t>Average damage depends heavily on the region, from about 1.7 to 2.8.</a:t>
            </a:r>
            <a:endParaRPr lang="en-US" sz="1400" dirty="0"/>
          </a:p>
          <a:p>
            <a:pPr indent="0" marL="0">
              <a:buNone/>
            </a:pPr>
            <a:r>
              <a:rPr lang="en-US" sz="1400" dirty="0">
                <a:solidFill>
                  <a:schemeClr val="tx1"/>
                </a:solidFill>
              </a:rPr>
              <a:t>We split the training file once, 80/20 and stratified: 208,480 buildings to train, 52,121 to validate.</a:t>
            </a:r>
            <a:endParaRPr lang="en-US" sz="14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rPr>
              <a:t>How we compared models</a:t>
            </a:r>
            <a:endParaRPr lang="en-US" sz="3200" dirty="0"/>
          </a:p>
        </p:txBody>
      </p:sp>
      <p:graphicFrame>
        <p:nvGraphicFramePr>
          <p:cNvPr id="5" name="Model 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37360"/>
                <a:gridCol w="3474720"/>
                <a:gridCol w="3017520"/>
              </a:tblGrid>
              <a:tr h="365760">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1F5F9"/>
                    </a:solidFill>
                  </a:tcPr>
                </a:tc>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Preprocessing</a:t>
                      </a:r>
                      <a:endParaRPr lang="en-US" sz="1400" dirty="0">
                        <a:latin typeface="Calibri" charset="0"/>
                        <a:ea typeface="Calibri" charset="0"/>
                        <a:cs typeface="Calibri"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1F5F9"/>
                    </a:solidFill>
                  </a:tcPr>
                </a:tc>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What we tuned</a:t>
                      </a:r>
                      <a:endParaRPr lang="en-US" sz="1400" dirty="0">
                        <a:latin typeface="Calibri" charset="0"/>
                        <a:ea typeface="Calibri" charset="0"/>
                        <a:cs typeface="Calibri"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1F5F9"/>
                    </a:solidFill>
                  </a:tcPr>
                </a:tc>
              </a:tr>
              <a:tr h="594360">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KNN</a:t>
                      </a:r>
                      <a:endParaRPr lang="en-US" sz="1400" dirty="0">
                        <a:latin typeface="Calibri" charset="0"/>
                        <a:ea typeface="Calibri" charset="0"/>
                        <a:cs typeface="Calibri"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One-hot, scaled, age capped at 100, geo_level_2 and 3 dropped</a:t>
                      </a:r>
                      <a:endParaRPr lang="en-US" sz="1400" dirty="0">
                        <a:latin typeface="Calibri" charset="0"/>
                        <a:ea typeface="Calibri" charset="0"/>
                        <a:cs typeface="Calibri"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k from 1 to 51, vote weighting</a:t>
                      </a:r>
                      <a:endParaRPr lang="en-US" sz="1400" dirty="0">
                        <a:latin typeface="Calibri" charset="0"/>
                        <a:ea typeface="Calibri" charset="0"/>
                        <a:cs typeface="Calibri"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594360">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Neural network</a:t>
                      </a:r>
                      <a:endParaRPr lang="en-US" sz="1400" dirty="0">
                        <a:latin typeface="Calibri" charset="0"/>
                        <a:ea typeface="Calibri" charset="0"/>
                        <a:cs typeface="Calibri"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Same as KNN</a:t>
                      </a:r>
                      <a:endParaRPr lang="en-US" sz="1400" dirty="0">
                        <a:latin typeface="Calibri" charset="0"/>
                        <a:ea typeface="Calibri" charset="0"/>
                        <a:cs typeface="Calibri"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Layer sizes (10 up to 256-128-64), L2 strength, 3 seeds</a:t>
                      </a:r>
                      <a:endParaRPr lang="en-US" sz="1400" dirty="0">
                        <a:latin typeface="Calibri" charset="0"/>
                        <a:ea typeface="Calibri" charset="0"/>
                        <a:cs typeface="Calibri"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594360">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Ordinal codes, raw age, all three geo IDs</a:t>
                      </a:r>
                      <a:endParaRPr lang="en-US" sz="1400" dirty="0">
                        <a:latin typeface="Calibri" charset="0"/>
                        <a:ea typeface="Calibri" charset="0"/>
                        <a:cs typeface="Calibri"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Trees, depth, leaf size, class weights</a:t>
                      </a:r>
                      <a:endParaRPr lang="en-US" sz="1400" dirty="0">
                        <a:latin typeface="Calibri" charset="0"/>
                        <a:ea typeface="Calibri" charset="0"/>
                        <a:cs typeface="Calibri"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594360">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Gradient boosting</a:t>
                      </a:r>
                      <a:endParaRPr lang="en-US" sz="1400" dirty="0">
                        <a:latin typeface="Calibri" charset="0"/>
                        <a:ea typeface="Calibri" charset="0"/>
                        <a:cs typeface="Calibri"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Same as random forest</a:t>
                      </a:r>
                      <a:endParaRPr lang="en-US" sz="1400" dirty="0">
                        <a:latin typeface="Calibri" charset="0"/>
                        <a:ea typeface="Calibri" charset="0"/>
                        <a:cs typeface="Calibri"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Learning rate, iterations, leaves per tree</a:t>
                      </a:r>
                      <a:endParaRPr lang="en-US" sz="1400" dirty="0">
                        <a:latin typeface="Calibri" charset="0"/>
                        <a:ea typeface="Calibri" charset="0"/>
                        <a:cs typeface="Calibri"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bl>
          </a:graphicData>
        </a:graphic>
      </p:graphicFrame>
      <p:sp>
        <p:nvSpPr>
          <p:cNvPr id="4" name="Approach note"/>
          <p:cNvSpPr txBox="1"/>
          <p:nvPr/>
        </p:nvSpPr>
        <p:spPr>
          <a:xfrm>
            <a:off x="457200" y="4160520"/>
            <a:ext cx="8229600" cy="457200"/>
          </a:xfrm>
          <a:prstGeom prst="rect">
            <a:avLst/>
          </a:prstGeom>
          <a:noFill/>
          <a:ln/>
        </p:spPr>
        <p:txBody>
          <a:bodyPr wrap="square" lIns="0" tIns="0" rIns="0" bIns="0" rtlCol="0" anchor="t"/>
          <a:lstStyle/>
          <a:p>
            <a:pPr indent="0" marL="0">
              <a:buNone/>
            </a:pPr>
            <a:r>
              <a:rPr lang="en-US" sz="1400" dirty="0">
                <a:solidFill>
                  <a:schemeClr val="tx2"/>
                </a:solidFill>
              </a:rPr>
              <a:t>Preprocessing is fitted on training data only. Every model uses the same split and the same validation set.</a:t>
            </a:r>
            <a:endParaRPr lang="en-US" sz="14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rPr>
              <a:t>Results</a:t>
            </a:r>
            <a:endParaRPr lang="en-US" sz="3200" dirty="0"/>
          </a:p>
        </p:txBody>
      </p:sp>
      <p:pic>
        <p:nvPicPr>
          <p:cNvPr id="3" name="Micro-F1 chart" descr="Bar chart of validation micro-F1 for the four models against the 0.5689 baseline">    </p:cNvPr>
          <p:cNvPicPr>
            <a:picLocks noChangeAspect="1"/>
          </p:cNvPicPr>
          <p:nvPr/>
        </p:nvPicPr>
        <p:blipFill>
          <a:blip r:embed="rId1"/>
          <a:stretch>
            <a:fillRect/>
          </a:stretch>
        </p:blipFill>
        <p:spPr>
          <a:xfrm>
            <a:off x="457200" y="1280160"/>
            <a:ext cx="4572000" cy="2516236"/>
          </a:xfrm>
          <a:prstGeom prst="rect">
            <a:avLst/>
          </a:prstGeom>
        </p:spPr>
      </p:pic>
      <p:graphicFrame>
        <p:nvGraphicFramePr>
          <p:cNvPr id="6" name="Results table"/>
          <p:cNvGraphicFramePr>
            <a:graphicFrameLocks noGrp="1"/>
          </p:cNvGraphicFramePr>
          <p:nvPr>
            <p:extLst>
              <p:ext uri="{D42A27DB-BD31-4B8C-83A1-F6EECF244321}">
                <p14:modId xmlns:p14="http://schemas.microsoft.com/office/powerpoint/2010/main" val="1579011935"/>
              </p:ext>
            </p:extLst>
          </p:nvPr>
        </p:nvGraphicFramePr>
        <p:xfrm>
          <a:off x="5303520" y="1280160"/>
          <a:ext cx="3383280" cy="914400"/>
        </p:xfrm>
        <a:graphic>
          <a:graphicData uri="http://schemas.openxmlformats.org/drawingml/2006/table">
            <a:tbl>
              <a:tblPr/>
              <a:tblGrid>
                <a:gridCol w="1554480"/>
                <a:gridCol w="914400"/>
                <a:gridCol w="914400"/>
              </a:tblGrid>
              <a:tr h="384048">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1F5F9"/>
                    </a:solidFill>
                  </a:tcPr>
                </a:tc>
                <a:tc>
                  <a:txBody>
                    <a:bodyPr/>
                    <a:lstStyle/>
                    <a:p>
                      <a:pPr algn="r" indent="0" marL="0">
                        <a:buNone/>
                      </a:pPr>
                      <a:r>
                        <a:rPr lang="en-US" sz="1400" b="1" dirty="0">
                          <a:solidFill>
                            <a:srgbClr val="1F2937"/>
                          </a:solidFill>
                          <a:latin typeface="Calibri" pitchFamily="34" charset="0"/>
                          <a:ea typeface="Calibri" pitchFamily="34" charset="-122"/>
                          <a:cs typeface="Calibri" pitchFamily="34" charset="-120"/>
                        </a:rPr>
                        <a:t>micro-F1</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1F5F9"/>
                    </a:solidFill>
                  </a:tcPr>
                </a:tc>
                <a:tc>
                  <a:txBody>
                    <a:bodyPr/>
                    <a:lstStyle/>
                    <a:p>
                      <a:pPr algn="r" indent="0" marL="0">
                        <a:buNone/>
                      </a:pPr>
                      <a:r>
                        <a:rPr lang="en-US" sz="1400" b="1" dirty="0">
                          <a:solidFill>
                            <a:srgbClr val="1F2937"/>
                          </a:solidFill>
                          <a:latin typeface="Calibri" pitchFamily="34" charset="0"/>
                          <a:ea typeface="Calibri" pitchFamily="34" charset="-122"/>
                          <a:cs typeface="Calibri" pitchFamily="34" charset="-120"/>
                        </a:rPr>
                        <a:t>macro-F1</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1F5F9"/>
                    </a:solidFill>
                  </a:tcPr>
                </a:tc>
              </a:tr>
              <a:tr h="384048">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Gradient boosting</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b="1" dirty="0">
                          <a:solidFill>
                            <a:srgbClr val="1F2937"/>
                          </a:solidFill>
                          <a:latin typeface="Calibri" pitchFamily="34" charset="0"/>
                          <a:ea typeface="Calibri" pitchFamily="34" charset="-122"/>
                          <a:cs typeface="Calibri" pitchFamily="34" charset="-120"/>
                        </a:rPr>
                        <a:t>0.7459</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b="1" dirty="0">
                          <a:solidFill>
                            <a:srgbClr val="1F2937"/>
                          </a:solidFill>
                          <a:latin typeface="Calibri" pitchFamily="34" charset="0"/>
                          <a:ea typeface="Calibri" pitchFamily="34" charset="-122"/>
                          <a:cs typeface="Calibri" pitchFamily="34" charset="-120"/>
                        </a:rPr>
                        <a:t>0.6929</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384048">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dirty="0">
                          <a:solidFill>
                            <a:srgbClr val="1F2937"/>
                          </a:solidFill>
                          <a:latin typeface="Calibri" pitchFamily="34" charset="0"/>
                          <a:ea typeface="Calibri" pitchFamily="34" charset="-122"/>
                          <a:cs typeface="Calibri" pitchFamily="34" charset="-120"/>
                        </a:rPr>
                        <a:t>0.7314</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dirty="0">
                          <a:solidFill>
                            <a:srgbClr val="1F2937"/>
                          </a:solidFill>
                          <a:latin typeface="Calibri" pitchFamily="34" charset="0"/>
                          <a:ea typeface="Calibri" pitchFamily="34" charset="-122"/>
                          <a:cs typeface="Calibri" pitchFamily="34" charset="-120"/>
                        </a:rPr>
                        <a:t>0.6645</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384048">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Neural network</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dirty="0">
                          <a:solidFill>
                            <a:srgbClr val="1F2937"/>
                          </a:solidFill>
                          <a:latin typeface="Calibri" pitchFamily="34" charset="0"/>
                          <a:ea typeface="Calibri" pitchFamily="34" charset="-122"/>
                          <a:cs typeface="Calibri" pitchFamily="34" charset="-120"/>
                        </a:rPr>
                        <a:t>0.6972</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dirty="0">
                          <a:solidFill>
                            <a:srgbClr val="1F2937"/>
                          </a:solidFill>
                          <a:latin typeface="Calibri" pitchFamily="34" charset="0"/>
                          <a:ea typeface="Calibri" pitchFamily="34" charset="-122"/>
                          <a:cs typeface="Calibri" pitchFamily="34" charset="-120"/>
                        </a:rPr>
                        <a:t>0.6328</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384048">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KNN</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dirty="0">
                          <a:solidFill>
                            <a:srgbClr val="1F2937"/>
                          </a:solidFill>
                          <a:latin typeface="Calibri" pitchFamily="34" charset="0"/>
                          <a:ea typeface="Calibri" pitchFamily="34" charset="-122"/>
                          <a:cs typeface="Calibri" pitchFamily="34" charset="-120"/>
                        </a:rPr>
                        <a:t>0.6802</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dirty="0">
                          <a:solidFill>
                            <a:srgbClr val="1F2937"/>
                          </a:solidFill>
                          <a:latin typeface="Calibri" pitchFamily="34" charset="0"/>
                          <a:ea typeface="Calibri" pitchFamily="34" charset="-122"/>
                          <a:cs typeface="Calibri" pitchFamily="34" charset="-120"/>
                        </a:rPr>
                        <a:t>0.6066</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384048">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Always grade 2</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dirty="0">
                          <a:solidFill>
                            <a:srgbClr val="1F2937"/>
                          </a:solidFill>
                          <a:latin typeface="Calibri" pitchFamily="34" charset="0"/>
                          <a:ea typeface="Calibri" pitchFamily="34" charset="-122"/>
                          <a:cs typeface="Calibri" pitchFamily="34" charset="-120"/>
                        </a:rPr>
                        <a:t>0.5689</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dirty="0">
                          <a:solidFill>
                            <a:srgbClr val="1F293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bl>
          </a:graphicData>
        </a:graphic>
      </p:graphicFrame>
      <p:sp>
        <p:nvSpPr>
          <p:cNvPr id="5" name="Results takeaway"/>
          <p:cNvSpPr txBox="1"/>
          <p:nvPr/>
        </p:nvSpPr>
        <p:spPr>
          <a:xfrm>
            <a:off x="457200" y="3977640"/>
            <a:ext cx="8229600" cy="685800"/>
          </a:xfrm>
          <a:prstGeom prst="rect">
            <a:avLst/>
          </a:prstGeom>
          <a:noFill/>
          <a:ln/>
        </p:spPr>
        <p:txBody>
          <a:bodyPr wrap="square" lIns="0" tIns="0" rIns="0" bIns="0" rtlCol="0" anchor="t"/>
          <a:lstStyle/>
          <a:p>
            <a:pPr indent="0" marL="0">
              <a:buNone/>
            </a:pPr>
            <a:r>
              <a:rPr lang="en-US" sz="1600" dirty="0">
                <a:solidFill>
                  <a:schemeClr val="tx1"/>
                </a:solidFill>
              </a:rPr>
              <a:t>Gradient boosting is best on both metrics. Its 0.0145 lead over the random forest is several times the roughly 0.002 sampling error of the validation set.</a:t>
            </a:r>
            <a:endParaRPr lang="en-US" sz="16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rPr>
              <a:t>Why gradient boosting won</a:t>
            </a:r>
            <a:endParaRPr lang="en-US" sz="3200" dirty="0"/>
          </a:p>
        </p:txBody>
      </p:sp>
      <p:sp>
        <p:nvSpPr>
          <p:cNvPr id="3" name="Tuning findings"/>
          <p:cNvSpPr txBox="1"/>
          <p:nvPr/>
        </p:nvSpPr>
        <p:spPr>
          <a:xfrm>
            <a:off x="457200" y="1325880"/>
            <a:ext cx="4754880" cy="320040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More capacity helped</a:t>
            </a:r>
            <a:endParaRPr lang="en-US" sz="1400" dirty="0"/>
          </a:p>
          <a:p>
            <a:pPr marL="342900" indent="-342900">
              <a:spcAft>
                <a:spcPts val="500"/>
              </a:spcAft>
              <a:buSzPct val="100000"/>
              <a:buChar char="•"/>
            </a:pPr>
            <a:r>
              <a:rPr lang="en-US" sz="1400" dirty="0">
                <a:solidFill>
                  <a:schemeClr val="tx1"/>
                </a:solidFill>
              </a:rPr>
              <a:t>63 leaves instead of 31: 0.7343 to 0.7413</a:t>
            </a:r>
            <a:endParaRPr lang="en-US" sz="1400" dirty="0"/>
          </a:p>
          <a:p>
            <a:pPr marL="342900" indent="-342900">
              <a:spcAft>
                <a:spcPts val="500"/>
              </a:spcAft>
              <a:buSzPct val="100000"/>
              <a:buChar char="•"/>
            </a:pPr>
            <a:r>
              <a:rPr lang="en-US" sz="1400" dirty="0">
                <a:solidFill>
                  <a:schemeClr val="tx1"/>
                </a:solidFill>
              </a:rPr>
              <a:t>Up to 500 iterations, stopped at 350: 0.7459</a:t>
            </a:r>
            <a:endParaRPr lang="en-US" sz="1400" dirty="0"/>
          </a:p>
          <a:p>
            <a:pPr marL="342900" indent="-342900">
              <a:spcAft>
                <a:spcPts val="1400"/>
              </a:spcAft>
              <a:buSzPct val="100000"/>
              <a:buChar char="•"/>
            </a:pPr>
            <a:r>
              <a:rPr lang="en-US" sz="1400" dirty="0">
                <a:solidFill>
                  <a:schemeClr val="tx1"/>
                </a:solidFill>
              </a:rPr>
              <a:t>Forest leaf size 2 instead of 5: 0.7239 to 0.7307</a:t>
            </a:r>
            <a:endParaRPr lang="en-US" sz="1400" dirty="0"/>
          </a:p>
          <a:p>
            <a:pPr indent="0" marL="0">
              <a:spcAft>
                <a:spcPts val="600"/>
              </a:spcAft>
              <a:buNone/>
            </a:pPr>
            <a:r>
              <a:rPr lang="en-US" sz="1800" b="1" dirty="0">
                <a:solidFill>
                  <a:schemeClr val="tx1"/>
                </a:solidFill>
              </a:rPr>
              <a:t>What did not help</a:t>
            </a:r>
            <a:endParaRPr lang="en-US" sz="1400" dirty="0"/>
          </a:p>
          <a:p>
            <a:pPr marL="342900" indent="-342900">
              <a:spcAft>
                <a:spcPts val="500"/>
              </a:spcAft>
              <a:buSzPct val="100000"/>
              <a:buChar char="•"/>
            </a:pPr>
            <a:r>
              <a:rPr lang="en-US" sz="1400" dirty="0">
                <a:solidFill>
                  <a:schemeClr val="tx1"/>
                </a:solidFill>
              </a:rPr>
              <a:t>Forest leaf size 1 overfitted: train 0.987, validation 0.7234</a:t>
            </a:r>
            <a:endParaRPr lang="en-US" sz="1400" dirty="0"/>
          </a:p>
          <a:p>
            <a:pPr marL="342900" indent="-342900">
              <a:buSzPct val="100000"/>
              <a:buChar char="•"/>
            </a:pPr>
            <a:r>
              <a:rPr lang="en-US" sz="1400" dirty="0">
                <a:solidFill>
                  <a:schemeClr val="tx1"/>
                </a:solidFill>
              </a:rPr>
              <a:t>Class weights lowered micro-F1 from 0.7239 to 0.6743</a:t>
            </a:r>
            <a:endParaRPr lang="en-US" sz="1400" dirty="0"/>
          </a:p>
        </p:txBody>
      </p:sp>
      <p:sp>
        <p:nvSpPr>
          <p:cNvPr id="4" name="Boosting gap card"/>
          <p:cNvSpPr/>
          <p:nvPr/>
        </p:nvSpPr>
        <p:spPr>
          <a:xfrm>
            <a:off x="5577840" y="1325880"/>
            <a:ext cx="3108960" cy="1417320"/>
          </a:xfrm>
          <a:prstGeom prst="rect">
            <a:avLst/>
          </a:prstGeom>
          <a:solidFill>
            <a:schemeClr val="bg2"/>
          </a:solidFill>
          <a:ln/>
        </p:spPr>
      </p:sp>
      <p:sp>
        <p:nvSpPr>
          <p:cNvPr id="5" name="Boosting gap number"/>
          <p:cNvSpPr txBox="1"/>
          <p:nvPr/>
        </p:nvSpPr>
        <p:spPr>
          <a:xfrm>
            <a:off x="5760720" y="1435608"/>
            <a:ext cx="2743200" cy="708660"/>
          </a:xfrm>
          <a:prstGeom prst="rect">
            <a:avLst/>
          </a:prstGeom>
          <a:noFill/>
          <a:ln/>
        </p:spPr>
        <p:txBody>
          <a:bodyPr wrap="square" lIns="0" tIns="0" rIns="0" bIns="0" rtlCol="0" anchor="ctr"/>
          <a:lstStyle/>
          <a:p>
            <a:pPr indent="0" marL="0">
              <a:buNone/>
            </a:pPr>
            <a:r>
              <a:rPr lang="en-US" sz="3600" b="1" dirty="0">
                <a:solidFill>
                  <a:schemeClr val="accent4"/>
                </a:solidFill>
              </a:rPr>
              <a:t>0.046</a:t>
            </a:r>
            <a:endParaRPr lang="en-US" sz="3600" dirty="0"/>
          </a:p>
        </p:txBody>
      </p:sp>
      <p:sp>
        <p:nvSpPr>
          <p:cNvPr id="6" name="Boosting gap label"/>
          <p:cNvSpPr txBox="1"/>
          <p:nvPr/>
        </p:nvSpPr>
        <p:spPr>
          <a:xfrm>
            <a:off x="5760720" y="2147926"/>
            <a:ext cx="2743200" cy="510235"/>
          </a:xfrm>
          <a:prstGeom prst="rect">
            <a:avLst/>
          </a:prstGeom>
          <a:noFill/>
          <a:ln/>
        </p:spPr>
        <p:txBody>
          <a:bodyPr wrap="square" lIns="0" tIns="0" rIns="0" bIns="0" rtlCol="0" anchor="t"/>
          <a:lstStyle/>
          <a:p>
            <a:pPr indent="0" marL="0">
              <a:buNone/>
            </a:pPr>
            <a:r>
              <a:rPr lang="en-US" sz="1400" dirty="0">
                <a:solidFill>
                  <a:schemeClr val="tx2"/>
                </a:solidFill>
              </a:rPr>
              <a:t>Gradient boosting: training score minus validation score</a:t>
            </a:r>
            <a:endParaRPr lang="en-US" sz="1400" dirty="0"/>
          </a:p>
        </p:txBody>
      </p:sp>
      <p:sp>
        <p:nvSpPr>
          <p:cNvPr id="7" name="Forest gap card"/>
          <p:cNvSpPr/>
          <p:nvPr/>
        </p:nvSpPr>
        <p:spPr>
          <a:xfrm>
            <a:off x="5577840" y="2926080"/>
            <a:ext cx="3108960" cy="1417320"/>
          </a:xfrm>
          <a:prstGeom prst="rect">
            <a:avLst/>
          </a:prstGeom>
          <a:solidFill>
            <a:schemeClr val="bg2"/>
          </a:solidFill>
          <a:ln/>
        </p:spPr>
      </p:sp>
      <p:sp>
        <p:nvSpPr>
          <p:cNvPr id="8" name="Forest gap number"/>
          <p:cNvSpPr txBox="1"/>
          <p:nvPr/>
        </p:nvSpPr>
        <p:spPr>
          <a:xfrm>
            <a:off x="5760720" y="3035808"/>
            <a:ext cx="2743200" cy="708660"/>
          </a:xfrm>
          <a:prstGeom prst="rect">
            <a:avLst/>
          </a:prstGeom>
          <a:noFill/>
          <a:ln/>
        </p:spPr>
        <p:txBody>
          <a:bodyPr wrap="square" lIns="0" tIns="0" rIns="0" bIns="0" rtlCol="0" anchor="ctr"/>
          <a:lstStyle/>
          <a:p>
            <a:pPr indent="0" marL="0">
              <a:buNone/>
            </a:pPr>
            <a:r>
              <a:rPr lang="en-US" sz="3600" b="1" dirty="0">
                <a:solidFill>
                  <a:schemeClr val="accent4"/>
                </a:solidFill>
              </a:rPr>
              <a:t>0.137</a:t>
            </a:r>
            <a:endParaRPr lang="en-US" sz="3600" dirty="0"/>
          </a:p>
        </p:txBody>
      </p:sp>
      <p:sp>
        <p:nvSpPr>
          <p:cNvPr id="9" name="Forest gap label"/>
          <p:cNvSpPr txBox="1"/>
          <p:nvPr/>
        </p:nvSpPr>
        <p:spPr>
          <a:xfrm>
            <a:off x="5760720" y="3748126"/>
            <a:ext cx="2743200" cy="510235"/>
          </a:xfrm>
          <a:prstGeom prst="rect">
            <a:avLst/>
          </a:prstGeom>
          <a:noFill/>
          <a:ln/>
        </p:spPr>
        <p:txBody>
          <a:bodyPr wrap="square" lIns="0" tIns="0" rIns="0" bIns="0" rtlCol="0" anchor="t"/>
          <a:lstStyle/>
          <a:p>
            <a:pPr indent="0" marL="0">
              <a:buNone/>
            </a:pPr>
            <a:r>
              <a:rPr lang="en-US" sz="1400" dirty="0">
                <a:solidFill>
                  <a:schemeClr val="tx2"/>
                </a:solidFill>
              </a:rPr>
              <a:t>Random forest: training score minus validation score</a:t>
            </a:r>
            <a:endParaRPr lang="en-US" sz="14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rPr>
              <a:t>Where the model goes wrong</a:t>
            </a:r>
            <a:endParaRPr lang="en-US" sz="3200" dirty="0"/>
          </a:p>
        </p:txBody>
      </p:sp>
      <p:pic>
        <p:nvPicPr>
          <p:cNvPr id="3" name="Boosting confusion matrix" descr="Confusion matrix for gradient boosting on the validation set">    </p:cNvPr>
          <p:cNvPicPr>
            <a:picLocks noChangeAspect="1"/>
          </p:cNvPicPr>
          <p:nvPr/>
        </p:nvPicPr>
        <p:blipFill>
          <a:blip r:embed="rId1"/>
          <a:stretch>
            <a:fillRect/>
          </a:stretch>
        </p:blipFill>
        <p:spPr>
          <a:xfrm>
            <a:off x="457200" y="1280160"/>
            <a:ext cx="3383280" cy="2931785"/>
          </a:xfrm>
          <a:prstGeom prst="rect">
            <a:avLst/>
          </a:prstGeom>
        </p:spPr>
      </p:pic>
      <p:sp>
        <p:nvSpPr>
          <p:cNvPr id="4" name="Recall 1 card"/>
          <p:cNvSpPr/>
          <p:nvPr/>
        </p:nvSpPr>
        <p:spPr>
          <a:xfrm>
            <a:off x="4206240" y="1280160"/>
            <a:ext cx="1371600" cy="1005840"/>
          </a:xfrm>
          <a:prstGeom prst="rect">
            <a:avLst/>
          </a:prstGeom>
          <a:solidFill>
            <a:schemeClr val="bg2"/>
          </a:solidFill>
          <a:ln/>
        </p:spPr>
      </p:sp>
      <p:sp>
        <p:nvSpPr>
          <p:cNvPr id="5" name="Recall 1 number"/>
          <p:cNvSpPr txBox="1"/>
          <p:nvPr/>
        </p:nvSpPr>
        <p:spPr>
          <a:xfrm>
            <a:off x="4389120" y="1389888"/>
            <a:ext cx="1005840" cy="502920"/>
          </a:xfrm>
          <a:prstGeom prst="rect">
            <a:avLst/>
          </a:prstGeom>
          <a:noFill/>
          <a:ln/>
        </p:spPr>
        <p:txBody>
          <a:bodyPr wrap="square" lIns="0" tIns="0" rIns="0" bIns="0" rtlCol="0" anchor="ctr"/>
          <a:lstStyle/>
          <a:p>
            <a:pPr indent="0" marL="0">
              <a:buNone/>
            </a:pPr>
            <a:r>
              <a:rPr lang="en-US" sz="2800" b="1" dirty="0">
                <a:solidFill>
                  <a:schemeClr val="accent4"/>
                </a:solidFill>
              </a:rPr>
              <a:t>52%</a:t>
            </a:r>
            <a:endParaRPr lang="en-US" sz="2800" dirty="0"/>
          </a:p>
        </p:txBody>
      </p:sp>
      <p:sp>
        <p:nvSpPr>
          <p:cNvPr id="6" name="Recall 1 label"/>
          <p:cNvSpPr txBox="1"/>
          <p:nvPr/>
        </p:nvSpPr>
        <p:spPr>
          <a:xfrm>
            <a:off x="4389120" y="1863547"/>
            <a:ext cx="1005840" cy="362102"/>
          </a:xfrm>
          <a:prstGeom prst="rect">
            <a:avLst/>
          </a:prstGeom>
          <a:noFill/>
          <a:ln/>
        </p:spPr>
        <p:txBody>
          <a:bodyPr wrap="square" lIns="0" tIns="0" rIns="0" bIns="0" rtlCol="0" anchor="t"/>
          <a:lstStyle/>
          <a:p>
            <a:pPr indent="0" marL="0">
              <a:buNone/>
            </a:pPr>
            <a:r>
              <a:rPr lang="en-US" sz="1200" dirty="0">
                <a:solidFill>
                  <a:schemeClr val="tx2"/>
                </a:solidFill>
              </a:rPr>
              <a:t>grade 1 recall</a:t>
            </a:r>
            <a:endParaRPr lang="en-US" sz="1200" dirty="0"/>
          </a:p>
        </p:txBody>
      </p:sp>
      <p:sp>
        <p:nvSpPr>
          <p:cNvPr id="7" name="Recall 2 card"/>
          <p:cNvSpPr/>
          <p:nvPr/>
        </p:nvSpPr>
        <p:spPr>
          <a:xfrm>
            <a:off x="5715000" y="1280160"/>
            <a:ext cx="1371600" cy="1005840"/>
          </a:xfrm>
          <a:prstGeom prst="rect">
            <a:avLst/>
          </a:prstGeom>
          <a:solidFill>
            <a:schemeClr val="bg2"/>
          </a:solidFill>
          <a:ln/>
        </p:spPr>
      </p:sp>
      <p:sp>
        <p:nvSpPr>
          <p:cNvPr id="8" name="Recall 2 number"/>
          <p:cNvSpPr txBox="1"/>
          <p:nvPr/>
        </p:nvSpPr>
        <p:spPr>
          <a:xfrm>
            <a:off x="5897880" y="1389888"/>
            <a:ext cx="1005840" cy="502920"/>
          </a:xfrm>
          <a:prstGeom prst="rect">
            <a:avLst/>
          </a:prstGeom>
          <a:noFill/>
          <a:ln/>
        </p:spPr>
        <p:txBody>
          <a:bodyPr wrap="square" lIns="0" tIns="0" rIns="0" bIns="0" rtlCol="0" anchor="ctr"/>
          <a:lstStyle/>
          <a:p>
            <a:pPr indent="0" marL="0">
              <a:buNone/>
            </a:pPr>
            <a:r>
              <a:rPr lang="en-US" sz="2800" b="1" dirty="0">
                <a:solidFill>
                  <a:schemeClr val="accent4"/>
                </a:solidFill>
              </a:rPr>
              <a:t>85%</a:t>
            </a:r>
            <a:endParaRPr lang="en-US" sz="2800" dirty="0"/>
          </a:p>
        </p:txBody>
      </p:sp>
      <p:sp>
        <p:nvSpPr>
          <p:cNvPr id="9" name="Recall 2 label"/>
          <p:cNvSpPr txBox="1"/>
          <p:nvPr/>
        </p:nvSpPr>
        <p:spPr>
          <a:xfrm>
            <a:off x="5897880" y="1863547"/>
            <a:ext cx="1005840" cy="362102"/>
          </a:xfrm>
          <a:prstGeom prst="rect">
            <a:avLst/>
          </a:prstGeom>
          <a:noFill/>
          <a:ln/>
        </p:spPr>
        <p:txBody>
          <a:bodyPr wrap="square" lIns="0" tIns="0" rIns="0" bIns="0" rtlCol="0" anchor="t"/>
          <a:lstStyle/>
          <a:p>
            <a:pPr indent="0" marL="0">
              <a:buNone/>
            </a:pPr>
            <a:r>
              <a:rPr lang="en-US" sz="1200" dirty="0">
                <a:solidFill>
                  <a:schemeClr val="tx2"/>
                </a:solidFill>
              </a:rPr>
              <a:t>grade 2 recall</a:t>
            </a:r>
            <a:endParaRPr lang="en-US" sz="1200" dirty="0"/>
          </a:p>
        </p:txBody>
      </p:sp>
      <p:sp>
        <p:nvSpPr>
          <p:cNvPr id="10" name="Recall 3 card"/>
          <p:cNvSpPr/>
          <p:nvPr/>
        </p:nvSpPr>
        <p:spPr>
          <a:xfrm>
            <a:off x="7223760" y="1280160"/>
            <a:ext cx="1371600" cy="1005840"/>
          </a:xfrm>
          <a:prstGeom prst="rect">
            <a:avLst/>
          </a:prstGeom>
          <a:solidFill>
            <a:schemeClr val="bg2"/>
          </a:solidFill>
          <a:ln/>
        </p:spPr>
      </p:sp>
      <p:sp>
        <p:nvSpPr>
          <p:cNvPr id="11" name="Recall 3 number"/>
          <p:cNvSpPr txBox="1"/>
          <p:nvPr/>
        </p:nvSpPr>
        <p:spPr>
          <a:xfrm>
            <a:off x="7406640" y="1389888"/>
            <a:ext cx="1005840" cy="502920"/>
          </a:xfrm>
          <a:prstGeom prst="rect">
            <a:avLst/>
          </a:prstGeom>
          <a:noFill/>
          <a:ln/>
        </p:spPr>
        <p:txBody>
          <a:bodyPr wrap="square" lIns="0" tIns="0" rIns="0" bIns="0" rtlCol="0" anchor="ctr"/>
          <a:lstStyle/>
          <a:p>
            <a:pPr indent="0" marL="0">
              <a:buNone/>
            </a:pPr>
            <a:r>
              <a:rPr lang="en-US" sz="2800" b="1" dirty="0">
                <a:solidFill>
                  <a:schemeClr val="accent4"/>
                </a:solidFill>
              </a:rPr>
              <a:t>63%</a:t>
            </a:r>
            <a:endParaRPr lang="en-US" sz="2800" dirty="0"/>
          </a:p>
        </p:txBody>
      </p:sp>
      <p:sp>
        <p:nvSpPr>
          <p:cNvPr id="12" name="Recall 3 label"/>
          <p:cNvSpPr txBox="1"/>
          <p:nvPr/>
        </p:nvSpPr>
        <p:spPr>
          <a:xfrm>
            <a:off x="7406640" y="1863547"/>
            <a:ext cx="1005840" cy="362102"/>
          </a:xfrm>
          <a:prstGeom prst="rect">
            <a:avLst/>
          </a:prstGeom>
          <a:noFill/>
          <a:ln/>
        </p:spPr>
        <p:txBody>
          <a:bodyPr wrap="square" lIns="0" tIns="0" rIns="0" bIns="0" rtlCol="0" anchor="t"/>
          <a:lstStyle/>
          <a:p>
            <a:pPr indent="0" marL="0">
              <a:buNone/>
            </a:pPr>
            <a:r>
              <a:rPr lang="en-US" sz="1200" dirty="0">
                <a:solidFill>
                  <a:schemeClr val="tx2"/>
                </a:solidFill>
              </a:rPr>
              <a:t>grade 3 recall</a:t>
            </a:r>
            <a:endParaRPr lang="en-US" sz="1200" dirty="0"/>
          </a:p>
        </p:txBody>
      </p:sp>
      <p:sp>
        <p:nvSpPr>
          <p:cNvPr id="13" name="Error notes"/>
          <p:cNvSpPr txBox="1"/>
          <p:nvPr/>
        </p:nvSpPr>
        <p:spPr>
          <a:xfrm>
            <a:off x="4206240" y="2606040"/>
            <a:ext cx="448056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Low damage is the hard class</a:t>
            </a:r>
            <a:endParaRPr lang="en-US" sz="1600" dirty="0"/>
          </a:p>
          <a:p>
            <a:pPr marL="342900" indent="-342900">
              <a:spcAft>
                <a:spcPts val="800"/>
              </a:spcAft>
              <a:buSzPct val="100000"/>
              <a:buChar char="•"/>
            </a:pPr>
            <a:r>
              <a:rPr lang="en-US" sz="1500" dirty="0">
                <a:solidFill>
                  <a:schemeClr val="tx1"/>
                </a:solidFill>
              </a:rPr>
              <a:t>Most mistakes are predictions of grade 2</a:t>
            </a:r>
            <a:endParaRPr lang="en-US" sz="1600" dirty="0"/>
          </a:p>
          <a:p>
            <a:pPr marL="342900" indent="-342900">
              <a:spcAft>
                <a:spcPts val="800"/>
              </a:spcAft>
              <a:buSzPct val="100000"/>
              <a:buChar char="•"/>
            </a:pPr>
            <a:r>
              <a:rPr lang="en-US" sz="1500" dirty="0">
                <a:solidFill>
                  <a:schemeClr val="tx1"/>
                </a:solidFill>
              </a:rPr>
              <a:t>Confusing grade 1 with grade 3 is rare: at most 118 buildings for any model</a:t>
            </a:r>
            <a:endParaRPr lang="en-US" sz="16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rPr>
              <a:t>What drives the predictions</a:t>
            </a:r>
            <a:endParaRPr lang="en-US" sz="3200" dirty="0"/>
          </a:p>
        </p:txBody>
      </p:sp>
      <p:pic>
        <p:nvPicPr>
          <p:cNvPr id="3" name="Feature importance" descr="Permutation importance of the top features for gradient boosting">    </p:cNvPr>
          <p:cNvPicPr>
            <a:picLocks noChangeAspect="1"/>
          </p:cNvPicPr>
          <p:nvPr/>
        </p:nvPicPr>
        <p:blipFill>
          <a:blip r:embed="rId1"/>
          <a:stretch>
            <a:fillRect/>
          </a:stretch>
        </p:blipFill>
        <p:spPr>
          <a:xfrm>
            <a:off x="457200" y="1280160"/>
            <a:ext cx="4480560" cy="2967258"/>
          </a:xfrm>
          <a:prstGeom prst="rect">
            <a:avLst/>
          </a:prstGeom>
        </p:spPr>
      </p:pic>
      <p:sp>
        <p:nvSpPr>
          <p:cNvPr id="4" name="Feature notes"/>
          <p:cNvSpPr txBox="1"/>
          <p:nvPr/>
        </p:nvSpPr>
        <p:spPr>
          <a:xfrm>
            <a:off x="5212080" y="1280160"/>
            <a:ext cx="3474720" cy="329184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Location dominates</a:t>
            </a:r>
            <a:endParaRPr lang="en-US" sz="1400" dirty="0"/>
          </a:p>
          <a:p>
            <a:pPr marL="342900" indent="-342900">
              <a:spcAft>
                <a:spcPts val="800"/>
              </a:spcAft>
              <a:buSzPct val="100000"/>
              <a:buChar char="•"/>
            </a:pPr>
            <a:r>
              <a:rPr lang="en-US" sz="1400" dirty="0">
                <a:solidFill>
                  <a:schemeClr val="tx1"/>
                </a:solidFill>
              </a:rPr>
              <a:t>Shuffling geo_level_1_id drops micro-F1 by 0.175 for boosting and 0.142 for the forest</a:t>
            </a:r>
            <a:endParaRPr lang="en-US" sz="1400" dirty="0"/>
          </a:p>
          <a:p>
            <a:pPr marL="342900" indent="-342900">
              <a:spcAft>
                <a:spcPts val="800"/>
              </a:spcAft>
              <a:buSzPct val="100000"/>
              <a:buChar char="•"/>
            </a:pPr>
            <a:r>
              <a:rPr lang="en-US" sz="1400" dirty="0">
                <a:solidFill>
                  <a:schemeClr val="tx1"/>
                </a:solidFill>
              </a:rPr>
              <a:t>Next come geo_level_2_id, geo_level_3_id and the mud-mortar-stone flag</a:t>
            </a:r>
            <a:endParaRPr lang="en-US" sz="1400" dirty="0"/>
          </a:p>
          <a:p>
            <a:pPr marL="342900" indent="-342900">
              <a:buSzPct val="100000"/>
              <a:buChar char="•"/>
            </a:pPr>
            <a:r>
              <a:rPr lang="en-US" sz="1400" dirty="0">
                <a:solidFill>
                  <a:schemeClr val="tx1"/>
                </a:solidFill>
              </a:rPr>
              <a:t>KNN and the network had to drop the fine location IDs, which likely explains why they trail by 3 to 7 points</a:t>
            </a:r>
            <a:endParaRPr lang="en-US" sz="14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rPr>
              <a:t>Summary</a:t>
            </a:r>
            <a:endParaRPr lang="en-US" sz="3200" dirty="0"/>
          </a:p>
        </p:txBody>
      </p:sp>
      <p:sp>
        <p:nvSpPr>
          <p:cNvPr id="3" name="Final score card"/>
          <p:cNvSpPr/>
          <p:nvPr/>
        </p:nvSpPr>
        <p:spPr>
          <a:xfrm>
            <a:off x="457200" y="1371600"/>
            <a:ext cx="3291840" cy="2011680"/>
          </a:xfrm>
          <a:prstGeom prst="rect">
            <a:avLst/>
          </a:prstGeom>
          <a:solidFill>
            <a:schemeClr val="bg2"/>
          </a:solidFill>
          <a:ln/>
        </p:spPr>
      </p:sp>
      <p:sp>
        <p:nvSpPr>
          <p:cNvPr id="4" name="Final score number"/>
          <p:cNvSpPr txBox="1"/>
          <p:nvPr/>
        </p:nvSpPr>
        <p:spPr>
          <a:xfrm>
            <a:off x="640080" y="1481328"/>
            <a:ext cx="2926080" cy="1005840"/>
          </a:xfrm>
          <a:prstGeom prst="rect">
            <a:avLst/>
          </a:prstGeom>
          <a:noFill/>
          <a:ln/>
        </p:spPr>
        <p:txBody>
          <a:bodyPr wrap="square" lIns="0" tIns="0" rIns="0" bIns="0" rtlCol="0" anchor="ctr"/>
          <a:lstStyle/>
          <a:p>
            <a:pPr indent="0" marL="0">
              <a:buNone/>
            </a:pPr>
            <a:r>
              <a:rPr lang="en-US" sz="4800" b="1" dirty="0">
                <a:solidFill>
                  <a:schemeClr val="accent4"/>
                </a:solidFill>
              </a:rPr>
              <a:t>0.7459</a:t>
            </a:r>
            <a:endParaRPr lang="en-US" sz="4800" dirty="0"/>
          </a:p>
        </p:txBody>
      </p:sp>
      <p:sp>
        <p:nvSpPr>
          <p:cNvPr id="5" name="Final score label"/>
          <p:cNvSpPr txBox="1"/>
          <p:nvPr/>
        </p:nvSpPr>
        <p:spPr>
          <a:xfrm>
            <a:off x="640080" y="2538374"/>
            <a:ext cx="2926080" cy="724205"/>
          </a:xfrm>
          <a:prstGeom prst="rect">
            <a:avLst/>
          </a:prstGeom>
          <a:noFill/>
          <a:ln/>
        </p:spPr>
        <p:txBody>
          <a:bodyPr wrap="square" lIns="0" tIns="0" rIns="0" bIns="0" rtlCol="0" anchor="t"/>
          <a:lstStyle/>
          <a:p>
            <a:pPr indent="0" marL="0">
              <a:buNone/>
            </a:pPr>
            <a:r>
              <a:rPr lang="en-US" sz="1600" dirty="0">
                <a:solidFill>
                  <a:schemeClr val="tx2"/>
                </a:solidFill>
              </a:rPr>
              <a:t>Validation micro-F1 of gradient boosting, our final model</a:t>
            </a:r>
            <a:endParaRPr lang="en-US" sz="1600" dirty="0"/>
          </a:p>
        </p:txBody>
      </p:sp>
      <p:sp>
        <p:nvSpPr>
          <p:cNvPr id="6" name="Summary points"/>
          <p:cNvSpPr txBox="1"/>
          <p:nvPr/>
        </p:nvSpPr>
        <p:spPr>
          <a:xfrm>
            <a:off x="4206240" y="1417320"/>
            <a:ext cx="4480560" cy="27432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0.177 above the always-grade-2 baseline</a:t>
            </a:r>
            <a:endParaRPr lang="en-US" sz="1600" dirty="0"/>
          </a:p>
          <a:p>
            <a:pPr marL="342900" indent="-342900">
              <a:spcAft>
                <a:spcPts val="800"/>
              </a:spcAft>
              <a:buSzPct val="100000"/>
              <a:buChar char="•"/>
            </a:pPr>
            <a:r>
              <a:rPr lang="en-US" sz="1800" dirty="0">
                <a:solidFill>
                  <a:schemeClr val="tx1"/>
                </a:solidFill>
              </a:rPr>
              <a:t>Tree models beat KNN and the neural network by 3 to 7 points</a:t>
            </a:r>
            <a:endParaRPr lang="en-US" sz="1600" dirty="0"/>
          </a:p>
          <a:p>
            <a:pPr marL="342900" indent="-342900">
              <a:spcAft>
                <a:spcPts val="800"/>
              </a:spcAft>
              <a:buSzPct val="100000"/>
              <a:buChar char="•"/>
            </a:pPr>
            <a:r>
              <a:rPr lang="en-US" sz="1800" dirty="0">
                <a:solidFill>
                  <a:schemeClr val="tx1"/>
                </a:solidFill>
              </a:rPr>
              <a:t>Location matters most, and low damage is the hardest class to catch</a:t>
            </a:r>
            <a:endParaRPr lang="en-US" sz="16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rPr>
              <a:t>Limitations and next steps</a:t>
            </a:r>
            <a:endParaRPr lang="en-US" sz="3200" dirty="0"/>
          </a:p>
        </p:txBody>
      </p:sp>
      <p:sp>
        <p:nvSpPr>
          <p:cNvPr id="3" name="Limitations card"/>
          <p:cNvSpPr/>
          <p:nvPr/>
        </p:nvSpPr>
        <p:spPr>
          <a:xfrm>
            <a:off x="457200" y="1280160"/>
            <a:ext cx="4023360" cy="2834640"/>
          </a:xfrm>
          <a:prstGeom prst="rect">
            <a:avLst/>
          </a:prstGeom>
          <a:solidFill>
            <a:schemeClr val="bg2"/>
          </a:solidFill>
          <a:ln/>
        </p:spPr>
      </p:sp>
      <p:sp>
        <p:nvSpPr>
          <p:cNvPr id="4" name="Limitations text"/>
          <p:cNvSpPr txBox="1"/>
          <p:nvPr/>
        </p:nvSpPr>
        <p:spPr>
          <a:xfrm>
            <a:off x="685800" y="1463040"/>
            <a:ext cx="3566160" cy="246888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Limitations</a:t>
            </a:r>
            <a:endParaRPr lang="en-US" sz="1400" dirty="0"/>
          </a:p>
          <a:p>
            <a:pPr marL="342900" indent="-342900">
              <a:spcAft>
                <a:spcPts val="800"/>
              </a:spcAft>
              <a:buSzPct val="100000"/>
              <a:buChar char="•"/>
            </a:pPr>
            <a:r>
              <a:rPr lang="en-US" sz="1400" dirty="0">
                <a:solidFill>
                  <a:schemeClr val="tx1"/>
                </a:solidFill>
              </a:rPr>
              <a:t>Hyperparameters were chosen on the same split we report</a:t>
            </a:r>
            <a:endParaRPr lang="en-US" sz="1400" dirty="0"/>
          </a:p>
          <a:p>
            <a:pPr marL="342900" indent="-342900">
              <a:spcAft>
                <a:spcPts val="800"/>
              </a:spcAft>
              <a:buSzPct val="100000"/>
              <a:buChar char="•"/>
            </a:pPr>
            <a:r>
              <a:rPr lang="en-US" sz="1400" dirty="0">
                <a:solidFill>
                  <a:schemeClr val="tx1"/>
                </a:solidFill>
              </a:rPr>
              <a:t>One split, no cross-validation</a:t>
            </a:r>
            <a:endParaRPr lang="en-US" sz="1400" dirty="0"/>
          </a:p>
          <a:p>
            <a:pPr marL="342900" indent="-342900">
              <a:spcAft>
                <a:spcPts val="800"/>
              </a:spcAft>
              <a:buSzPct val="100000"/>
              <a:buChar char="•"/>
            </a:pPr>
            <a:r>
              <a:rPr lang="en-US" sz="1400" dirty="0">
                <a:solidFill>
                  <a:schemeClr val="tx1"/>
                </a:solidFill>
              </a:rPr>
              <a:t>Duplicate buildings may favour high-capacity models</a:t>
            </a:r>
            <a:endParaRPr lang="en-US" sz="1400" dirty="0"/>
          </a:p>
          <a:p>
            <a:pPr marL="342900" indent="-342900">
              <a:spcAft>
                <a:spcPts val="800"/>
              </a:spcAft>
              <a:buSzPct val="100000"/>
              <a:buChar char="•"/>
            </a:pPr>
            <a:r>
              <a:rPr lang="en-US" sz="1400" dirty="0">
                <a:solidFill>
                  <a:schemeClr val="tx1"/>
                </a:solidFill>
              </a:rPr>
              <a:t>We did not score the competition test set</a:t>
            </a:r>
            <a:endParaRPr lang="en-US" sz="1400" dirty="0"/>
          </a:p>
        </p:txBody>
      </p:sp>
      <p:sp>
        <p:nvSpPr>
          <p:cNvPr id="5" name="Next steps card"/>
          <p:cNvSpPr/>
          <p:nvPr/>
        </p:nvSpPr>
        <p:spPr>
          <a:xfrm>
            <a:off x="4663440" y="1280160"/>
            <a:ext cx="4023360" cy="2834640"/>
          </a:xfrm>
          <a:prstGeom prst="rect">
            <a:avLst/>
          </a:prstGeom>
          <a:solidFill>
            <a:schemeClr val="bg2"/>
          </a:solidFill>
          <a:ln/>
        </p:spPr>
      </p:sp>
      <p:sp>
        <p:nvSpPr>
          <p:cNvPr id="6" name="Next steps text"/>
          <p:cNvSpPr txBox="1"/>
          <p:nvPr/>
        </p:nvSpPr>
        <p:spPr>
          <a:xfrm>
            <a:off x="4892040" y="1463040"/>
            <a:ext cx="3566160" cy="246888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Next steps</a:t>
            </a:r>
            <a:endParaRPr lang="en-US" sz="1400" dirty="0"/>
          </a:p>
          <a:p>
            <a:pPr marL="342900" indent="-342900">
              <a:spcAft>
                <a:spcPts val="800"/>
              </a:spcAft>
              <a:buSzPct val="100000"/>
              <a:buChar char="•"/>
            </a:pPr>
            <a:r>
              <a:rPr lang="en-US" sz="1400" dirty="0">
                <a:solidFill>
                  <a:schemeClr val="tx1"/>
                </a:solidFill>
              </a:rPr>
              <a:t>Target encoding or embeddings for geo_level_2_id and geo_level_3_id in the neural network</a:t>
            </a:r>
            <a:endParaRPr lang="en-US" sz="1400" dirty="0"/>
          </a:p>
          <a:p>
            <a:pPr marL="342900" indent="-342900">
              <a:spcAft>
                <a:spcPts val="800"/>
              </a:spcAft>
              <a:buSzPct val="100000"/>
              <a:buChar char="•"/>
            </a:pPr>
            <a:r>
              <a:rPr lang="en-US" sz="1400" dirty="0">
                <a:solidFill>
                  <a:schemeClr val="tx1"/>
                </a:solidFill>
              </a:rPr>
              <a:t>Tune the decision rule to raise grade-1 recall</a:t>
            </a:r>
            <a:endParaRPr lang="en-US" sz="1400" dirty="0"/>
          </a:p>
          <a:p>
            <a:pPr marL="342900" indent="-342900">
              <a:spcAft>
                <a:spcPts val="800"/>
              </a:spcAft>
              <a:buSzPct val="100000"/>
              <a:buChar char="•"/>
            </a:pPr>
            <a:r>
              <a:rPr lang="en-US" sz="1400" dirty="0">
                <a:solidFill>
                  <a:schemeClr val="tx1"/>
                </a:solidFill>
              </a:rPr>
              <a:t>Cross-validation</a:t>
            </a:r>
            <a:endParaRPr lang="en-US" sz="14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Team18 Plain">
  <a:themeElements>
    <a:clrScheme name="Team18 Plain">
      <a:dk1>
        <a:srgbClr val="1F2937"/>
      </a:dk1>
      <a:lt1>
        <a:srgbClr val="FFFFFF"/>
      </a:lt1>
      <a:dk2>
        <a:srgbClr val="374151"/>
      </a:dk2>
      <a:lt2>
        <a:srgbClr val="F1F5F9"/>
      </a:lt2>
      <a:accent1>
        <a:srgbClr val="5B7DB1"/>
      </a:accent1>
      <a:accent2>
        <a:srgbClr val="8C95A3"/>
      </a:accent2>
      <a:accent3>
        <a:srgbClr val="A8402E"/>
      </a:accent3>
      <a:accent4>
        <a:srgbClr val="3F5F8F"/>
      </a:accent4>
      <a:accent5>
        <a:srgbClr val="6B7280"/>
      </a:accent5>
      <a:accent6>
        <a:srgbClr val="B8C4D6"/>
      </a:accent6>
      <a:hlink>
        <a:srgbClr val="3F5F8F"/>
      </a:hlink>
      <a:folHlink>
        <a:srgbClr val="6B7280"/>
      </a:folHlink>
    </a:clrScheme>
    <a:fontScheme name="Team18 Plai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PES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Earthquake Damage to Buildings</dc:title>
  <dc:subject>UE24CS352A Machine Learning mini-project</dc:subject>
  <dc:creator>Team 18</dc:creator>
  <cp:lastModifiedBy>Team 18</cp:lastModifiedBy>
  <cp:revision>1</cp:revision>
  <dcterms:created xsi:type="dcterms:W3CDTF">2026-10-12T05:10:15Z</dcterms:created>
  <dcterms:modified xsi:type="dcterms:W3CDTF">2026-10-12T05:10:15Z</dcterms:modified>
</cp:coreProperties>
</file>